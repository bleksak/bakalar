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5" r:id="rId5"/>
    <p:sldId id="261" r:id="rId6"/>
    <p:sldId id="259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Střední styl 3 – zvýraznění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Tmavý styl 2 – zvýraznění 5/zvýraznění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Tmavý styl 2 – zvýraznění 3/zvýraznění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Tmavý styl 2 – zvýraznění 1/zvýraznění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Tmavý styl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AF606853-7671-496A-8E4F-DF71F8EC918B}" styleName="Tmavý styl 1 – zvýraznění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Tmavý styl 1 – zvýraznění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Tmavý styl 1 – zvýraznění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Tmavý styl 1 – zvýraznění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Tmavý styl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6D9F66E-5EB9-4882-86FB-DCBF35E3C3E4}" styleName="Střední styl 4 – zvýraznění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Střední styl 4 – zvýraznění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Střední styl 4 – zvýraznění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Střední styl 4 – zvýraznění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Střední styl 4 – zvýraznění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Střední styl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6199" autoAdjust="0"/>
  </p:normalViewPr>
  <p:slideViewPr>
    <p:cSldViewPr snapToGrid="0">
      <p:cViewPr varScale="1">
        <p:scale>
          <a:sx n="95" d="100"/>
          <a:sy n="95" d="100"/>
        </p:scale>
        <p:origin x="11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90C8A7-6D1E-4D20-86D2-DC7A6C8739EC}" type="datetimeFigureOut">
              <a:rPr lang="cs-CZ" smtClean="0"/>
              <a:t>12.06.2023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70886D-5BC0-4411-B76F-8E47EF5D73D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10339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0886D-5BC0-4411-B76F-8E47EF5D73D4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024497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dirty="0"/>
              <a:t>Práce s byte kódem</a:t>
            </a:r>
          </a:p>
          <a:p>
            <a:r>
              <a:rPr lang="en-US" dirty="0" err="1"/>
              <a:t>Popsat</a:t>
            </a:r>
            <a:r>
              <a:rPr lang="en-US" dirty="0"/>
              <a:t> software (</a:t>
            </a:r>
            <a:r>
              <a:rPr lang="cs-CZ" dirty="0" err="1"/>
              <a:t>heap</a:t>
            </a:r>
            <a:r>
              <a:rPr lang="cs-CZ" dirty="0"/>
              <a:t> </a:t>
            </a:r>
            <a:r>
              <a:rPr lang="cs-CZ" dirty="0" err="1"/>
              <a:t>dump</a:t>
            </a:r>
            <a:r>
              <a:rPr lang="cs-CZ" dirty="0"/>
              <a:t>)</a:t>
            </a:r>
          </a:p>
          <a:p>
            <a:r>
              <a:rPr lang="cs-CZ" dirty="0"/>
              <a:t>Původně práce měla navazovat, ale..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0886D-5BC0-4411-B76F-8E47EF5D73D4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564188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Výjimka u </a:t>
            </a:r>
            <a:r>
              <a:rPr lang="cs-CZ" dirty="0" err="1"/>
              <a:t>new</a:t>
            </a:r>
            <a:r>
              <a:rPr lang="cs-CZ" dirty="0"/>
              <a:t> – je potřeba spárovat s instrukcí </a:t>
            </a:r>
            <a:r>
              <a:rPr lang="cs-CZ" dirty="0" err="1"/>
              <a:t>invokespecial</a:t>
            </a:r>
            <a:endParaRPr lang="cs-CZ" dirty="0"/>
          </a:p>
          <a:p>
            <a:r>
              <a:rPr lang="cs-CZ" dirty="0"/>
              <a:t>Metoda </a:t>
            </a:r>
            <a:r>
              <a:rPr lang="cs-CZ" dirty="0" err="1"/>
              <a:t>premain</a:t>
            </a:r>
            <a:r>
              <a:rPr lang="cs-CZ" dirty="0"/>
              <a:t> dostane jako argument instanci třídy </a:t>
            </a:r>
            <a:r>
              <a:rPr lang="cs-CZ" dirty="0" err="1"/>
              <a:t>Instrumentation</a:t>
            </a:r>
            <a:endParaRPr lang="cs-CZ" dirty="0"/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0886D-5BC0-4411-B76F-8E47EF5D73D4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89919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0886D-5BC0-4411-B76F-8E47EF5D73D4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89712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0886D-5BC0-4411-B76F-8E47EF5D73D4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39528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0886D-5BC0-4411-B76F-8E47EF5D73D4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88853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FA935F2-C188-536F-712C-6268EF12B1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035C4568-159A-4B13-3C79-4D7637A797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F982FF4-45DC-CCAB-9528-546E58CD1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988DC-6703-462C-8EF1-1DADC09C1BFF}" type="datetimeFigureOut">
              <a:rPr lang="cs-CZ" smtClean="0"/>
              <a:t>12.06.2023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E70A66E-2EA9-A8CB-7314-8471C5C67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6869D35-BD77-37D1-EDAD-10E914CAC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277CD-FAC2-49DE-8EE9-C70276265CB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72738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00B3640-E10C-4FE9-EB77-22AC1AF46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D6841B1-05BA-DCF0-D6B7-55D0F928D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BE2C7DB-EAF5-9A32-4F63-CF0B4B145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988DC-6703-462C-8EF1-1DADC09C1BFF}" type="datetimeFigureOut">
              <a:rPr lang="cs-CZ" smtClean="0"/>
              <a:t>12.06.2023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DD990A0-CB42-70A5-3F6F-ECE21BDFB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81AE864-CCC0-88EB-67F4-D3F66E5B2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277CD-FAC2-49DE-8EE9-C70276265CB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91261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A5039E2-1602-6E35-D084-B2B19BBE4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D9D2488-30A8-5FAF-74DF-DF7AB835B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06CC8BD-5C62-9C0B-FA93-64356488A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988DC-6703-462C-8EF1-1DADC09C1BFF}" type="datetimeFigureOut">
              <a:rPr lang="cs-CZ" smtClean="0"/>
              <a:t>12.06.2023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BB1C151-4870-99AE-9E9A-6B9EB7098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64A6053-CFF6-656A-F0A1-4273593B2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277CD-FAC2-49DE-8EE9-C70276265CB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86699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269333D-A728-3C69-3863-6748AA6C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4AB6478-187C-73E0-1DC1-C234BEFA6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7E74BA4-EB58-12D1-0A8E-7EC9B35042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C7A95AD-C536-307E-097B-74B7FC3C7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988DC-6703-462C-8EF1-1DADC09C1BFF}" type="datetimeFigureOut">
              <a:rPr lang="cs-CZ" smtClean="0"/>
              <a:t>12.06.2023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FCED3FB-682D-56CF-56CA-1A4B579DB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FADFC1E9-DDB2-830F-EC78-901A8F53A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277CD-FAC2-49DE-8EE9-C70276265CB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86223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A96BE54-3A89-BF0D-12F1-B94493EAB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FF301DD-1D52-23A3-00BE-9B144DDC7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6BF3EF7B-EB07-FE6B-F817-9CAFA59D1E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1E7A64E1-5EB9-0334-319C-E18102BB68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D88147FC-5777-1216-0E83-64612171BD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15BAAD97-839D-750A-FA8B-AED5EA729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988DC-6703-462C-8EF1-1DADC09C1BFF}" type="datetimeFigureOut">
              <a:rPr lang="cs-CZ" smtClean="0"/>
              <a:t>12.06.2023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E6B65FD9-839E-2B7A-4C9F-BB86CCEE6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20EC8B0-0827-28D5-74F5-BFE3295C1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277CD-FAC2-49DE-8EE9-C70276265CB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509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69DB71C-F520-66B6-0004-0C5FB0F2A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3BD0A2AF-BD75-60B5-45C7-578945F38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988DC-6703-462C-8EF1-1DADC09C1BFF}" type="datetimeFigureOut">
              <a:rPr lang="cs-CZ" smtClean="0"/>
              <a:t>12.06.2023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0C974D4-E2B1-1CFF-F333-11DDB3383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FE27B62A-F3B0-68F3-2917-4A660DB79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277CD-FAC2-49DE-8EE9-C70276265CB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62801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16289000-4302-7788-A6D5-53CC5134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988DC-6703-462C-8EF1-1DADC09C1BFF}" type="datetimeFigureOut">
              <a:rPr lang="cs-CZ" smtClean="0"/>
              <a:t>12.06.2023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21655C96-6DC0-C6F4-851F-29C221E5D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7AA011A-ECE4-F5E8-2795-0C5B6733F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277CD-FAC2-49DE-8EE9-C70276265CB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8822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14F9BA-72A9-966F-11A6-F316EB766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17CC86B-E925-AB63-A69F-321D9B549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7E0B874-8676-E9B9-4AB5-B31F772585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C116D19-630D-E9F6-90E7-18FAE674A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988DC-6703-462C-8EF1-1DADC09C1BFF}" type="datetimeFigureOut">
              <a:rPr lang="cs-CZ" smtClean="0"/>
              <a:t>12.06.2023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99DCC4C-FAC9-13AD-F269-618B1B866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8134E96-EA01-B154-2935-5803B4C1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277CD-FAC2-49DE-8EE9-C70276265CB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61031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58C0796-3891-112D-9422-16F2F0565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CBCF7920-9E0D-9E55-EBDA-8ED009A53D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92F883F-D21F-18E8-7B07-A6810E867A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7A8B0BC-E1F1-1511-F0D8-D99C0C0F4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988DC-6703-462C-8EF1-1DADC09C1BFF}" type="datetimeFigureOut">
              <a:rPr lang="cs-CZ" smtClean="0"/>
              <a:t>12.06.2023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4A42121-822C-ADDF-1C59-58D6EAE9D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275BE05-6EF0-36D9-0F25-622607668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277CD-FAC2-49DE-8EE9-C70276265CB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12334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A200ECD-8527-6A0A-4D45-9C5BAB017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29B9AC49-6FA2-0A43-D266-EBEA1A0236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A1CD221-BE72-DC36-F262-3B585139D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988DC-6703-462C-8EF1-1DADC09C1BFF}" type="datetimeFigureOut">
              <a:rPr lang="cs-CZ" smtClean="0"/>
              <a:t>12.06.2023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20078AF-5EC3-6847-3ADF-1ABE9D3AF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F5E4A5F-874B-2993-F6A0-5C06B3B61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277CD-FAC2-49DE-8EE9-C70276265CB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99543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43C4161C-EA63-B79F-DFB0-3682214BB0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DA1D898C-4AD1-12FB-0590-72324AD49A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FA497E4-AE68-E0DD-6270-F5ACC6F9F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988DC-6703-462C-8EF1-1DADC09C1BFF}" type="datetimeFigureOut">
              <a:rPr lang="cs-CZ" smtClean="0"/>
              <a:t>12.06.2023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7249BBF-CA52-0152-0980-F5A2A89A8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A036D80-060B-ABDF-6A9B-9F93B2AB5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277CD-FAC2-49DE-8EE9-C70276265CB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34525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8AFF31AD-02BF-15DD-50CE-E1024B832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A8AA4A7-FEB0-00C4-D888-2E3D773FD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E2480CD-189F-AA72-C9F5-8876267AAA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988DC-6703-462C-8EF1-1DADC09C1BFF}" type="datetimeFigureOut">
              <a:rPr lang="cs-CZ" smtClean="0"/>
              <a:t>12.06.2023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B55B21C-72C5-6487-9FBF-A4F2AC4498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E454DB0-D526-06AF-D226-46EC3EC7B2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277CD-FAC2-49DE-8EE9-C70276265CB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73734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13FB18C-93FD-D7D5-14CB-EBA594EBE2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Monitorování alokací paměti za běhu Java aplikací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44FE6E27-954B-D0F9-1A62-D89F8C32C8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sz="2600" b="1" dirty="0"/>
              <a:t>Jiří Velek</a:t>
            </a:r>
            <a:endParaRPr lang="en-US" sz="2600" b="1" dirty="0"/>
          </a:p>
          <a:p>
            <a:r>
              <a:rPr lang="cs-CZ" sz="1800" dirty="0"/>
              <a:t>Vedoucí práce: Ing. Richard Lipka, Ph.D</a:t>
            </a:r>
          </a:p>
        </p:txBody>
      </p:sp>
    </p:spTree>
    <p:extLst>
      <p:ext uri="{BB962C8B-B14F-4D97-AF65-F5344CB8AC3E}">
        <p14:creationId xmlns:p14="http://schemas.microsoft.com/office/powerpoint/2010/main" val="1677633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AB318EA-33B9-432F-8D1B-DC0BBF542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Proč práce vznikala?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8687A31-FF5B-F77F-C7D6-0E6FA71CA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248" y="1825625"/>
            <a:ext cx="10515600" cy="4351338"/>
          </a:xfrm>
        </p:spPr>
        <p:txBody>
          <a:bodyPr/>
          <a:lstStyle/>
          <a:p>
            <a:r>
              <a:rPr lang="cs-CZ" dirty="0" err="1"/>
              <a:t>Nízkoúrovňové</a:t>
            </a:r>
            <a:r>
              <a:rPr lang="cs-CZ" dirty="0"/>
              <a:t> zaměření</a:t>
            </a:r>
          </a:p>
          <a:p>
            <a:r>
              <a:rPr lang="cs-CZ" dirty="0"/>
              <a:t>Neefektivní využití paměti</a:t>
            </a:r>
          </a:p>
          <a:p>
            <a:r>
              <a:rPr lang="cs-CZ" dirty="0"/>
              <a:t>Návaznost na předchozí práce (Ing. Hoang Ngoc Hung, Ing. Martin Mach)</a:t>
            </a:r>
          </a:p>
          <a:p>
            <a:r>
              <a:rPr lang="cs-CZ" dirty="0"/>
              <a:t>Absence software pro monitorování alokací paměti za běhu</a:t>
            </a:r>
            <a:r>
              <a:rPr lang="en-US" dirty="0"/>
              <a:t> </a:t>
            </a:r>
            <a:r>
              <a:rPr lang="en-US" dirty="0" err="1"/>
              <a:t>programu</a:t>
            </a:r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3A6A4318-BB08-24F0-1E4E-C4A93751D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356350"/>
            <a:ext cx="10515599" cy="365125"/>
          </a:xfrm>
        </p:spPr>
        <p:txBody>
          <a:bodyPr/>
          <a:lstStyle/>
          <a:p>
            <a:pPr algn="r"/>
            <a:r>
              <a:rPr lang="cs-CZ" sz="1600" dirty="0"/>
              <a:t>1/5</a:t>
            </a:r>
          </a:p>
        </p:txBody>
      </p:sp>
    </p:spTree>
    <p:extLst>
      <p:ext uri="{BB962C8B-B14F-4D97-AF65-F5344CB8AC3E}">
        <p14:creationId xmlns:p14="http://schemas.microsoft.com/office/powerpoint/2010/main" val="8947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484B55C-C2EC-A284-D271-2A503DC70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 práce vznikala?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C9A6D7E-D646-BA9E-DC3C-493239BD0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Seznámení se s JVM a správou paměti</a:t>
            </a:r>
          </a:p>
          <a:p>
            <a:r>
              <a:rPr lang="cs-CZ" dirty="0"/>
              <a:t>Seznámení se s byte kódovou instrumentací v Javě</a:t>
            </a:r>
          </a:p>
          <a:p>
            <a:r>
              <a:rPr lang="cs-CZ" dirty="0"/>
              <a:t>Java </a:t>
            </a:r>
            <a:r>
              <a:rPr lang="cs-CZ" dirty="0" err="1"/>
              <a:t>Instrumentation</a:t>
            </a:r>
            <a:r>
              <a:rPr lang="cs-CZ" dirty="0"/>
              <a:t> API – Třída agenta, </a:t>
            </a:r>
            <a:r>
              <a:rPr lang="cs-CZ" dirty="0" err="1"/>
              <a:t>Instrumentation</a:t>
            </a:r>
            <a:r>
              <a:rPr lang="cs-CZ" dirty="0"/>
              <a:t>, </a:t>
            </a:r>
            <a:r>
              <a:rPr lang="cs-CZ" dirty="0" err="1"/>
              <a:t>Transformer</a:t>
            </a:r>
            <a:endParaRPr lang="cs-CZ" dirty="0"/>
          </a:p>
          <a:p>
            <a:r>
              <a:rPr lang="cs-CZ" dirty="0"/>
              <a:t>Knihovna Javassist</a:t>
            </a:r>
          </a:p>
          <a:p>
            <a:r>
              <a:rPr lang="cs-CZ" dirty="0"/>
              <a:t>Získání pozice alokace - </a:t>
            </a:r>
            <a:r>
              <a:rPr lang="cs-CZ" dirty="0" err="1"/>
              <a:t>StackTraceElement</a:t>
            </a:r>
            <a:endParaRPr lang="cs-CZ" dirty="0"/>
          </a:p>
          <a:p>
            <a:r>
              <a:rPr lang="cs-CZ" dirty="0"/>
              <a:t>Porovnávání objektů – Grafový algoritmus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8418B9E5-58E5-96EE-C20C-769EADDC6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515600" cy="365125"/>
          </a:xfrm>
        </p:spPr>
        <p:txBody>
          <a:bodyPr/>
          <a:lstStyle/>
          <a:p>
            <a:pPr algn="r"/>
            <a:r>
              <a:rPr lang="cs-CZ" sz="1600" dirty="0"/>
              <a:t>2/5</a:t>
            </a:r>
          </a:p>
        </p:txBody>
      </p:sp>
    </p:spTree>
    <p:extLst>
      <p:ext uri="{BB962C8B-B14F-4D97-AF65-F5344CB8AC3E}">
        <p14:creationId xmlns:p14="http://schemas.microsoft.com/office/powerpoint/2010/main" val="3173893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FF2A8F7-8697-9F2E-140C-B31F206EC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 nástroj funguje?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C36A7BC-DD98-6FBA-83EB-5F9D3EAB4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s-CZ" dirty="0"/>
              <a:t>Pro instrukce </a:t>
            </a:r>
            <a:r>
              <a:rPr lang="cs-CZ" dirty="0" err="1"/>
              <a:t>newarray</a:t>
            </a:r>
            <a:r>
              <a:rPr lang="cs-CZ" dirty="0"/>
              <a:t>, </a:t>
            </a:r>
            <a:r>
              <a:rPr lang="cs-CZ" dirty="0" err="1"/>
              <a:t>anewarray</a:t>
            </a:r>
            <a:r>
              <a:rPr lang="cs-CZ" dirty="0"/>
              <a:t>, </a:t>
            </a:r>
            <a:r>
              <a:rPr lang="cs-CZ" dirty="0" err="1"/>
              <a:t>multianewarray</a:t>
            </a:r>
            <a:r>
              <a:rPr lang="cs-CZ" dirty="0"/>
              <a:t>:</a:t>
            </a:r>
          </a:p>
          <a:p>
            <a:pPr lvl="1"/>
            <a:r>
              <a:rPr lang="cs-CZ" dirty="0"/>
              <a:t>Vytvoří na JVM zásobníku duplikát reference (DUP) a pouze zavolá metodu pro uložení reference (INVOKESTATIC)</a:t>
            </a:r>
          </a:p>
          <a:p>
            <a:r>
              <a:rPr lang="cs-CZ" dirty="0"/>
              <a:t>Pro instrukce </a:t>
            </a:r>
            <a:r>
              <a:rPr lang="cs-CZ" dirty="0" err="1"/>
              <a:t>new</a:t>
            </a:r>
            <a:r>
              <a:rPr lang="cs-CZ" dirty="0"/>
              <a:t>:</a:t>
            </a:r>
          </a:p>
          <a:p>
            <a:pPr lvl="1"/>
            <a:r>
              <a:rPr lang="cs-CZ" dirty="0"/>
              <a:t>Je vytvořen uživatelský zásobník. Při nalezení instrukce </a:t>
            </a:r>
            <a:r>
              <a:rPr lang="cs-CZ" dirty="0" err="1"/>
              <a:t>new</a:t>
            </a:r>
            <a:r>
              <a:rPr lang="cs-CZ" dirty="0"/>
              <a:t> je na tento zásobník vložen název třídy, ke které se instrukce vztahuje. Na JVM zásobník je uložen duplikát reference (DUP)</a:t>
            </a:r>
          </a:p>
          <a:p>
            <a:pPr lvl="1"/>
            <a:r>
              <a:rPr lang="cs-CZ" dirty="0"/>
              <a:t>Při nalezení instrukce </a:t>
            </a:r>
            <a:r>
              <a:rPr lang="cs-CZ" dirty="0" err="1"/>
              <a:t>invokespecial</a:t>
            </a:r>
            <a:r>
              <a:rPr lang="cs-CZ" dirty="0"/>
              <a:t> se porovná vrchol zásobníku s názvem třídy, ke které se instrukce vztahuje</a:t>
            </a:r>
          </a:p>
          <a:p>
            <a:pPr lvl="1"/>
            <a:r>
              <a:rPr lang="cs-CZ" dirty="0"/>
              <a:t>Pokud se názvy třídy rovnají, pak je obsah vrcholu zásobníku smazán a za instrukcí </a:t>
            </a:r>
            <a:r>
              <a:rPr lang="cs-CZ" dirty="0" err="1"/>
              <a:t>invokespecial</a:t>
            </a:r>
            <a:r>
              <a:rPr lang="cs-CZ" dirty="0"/>
              <a:t> zavolána metoda pro uložení reference (INVOKESTATIC)</a:t>
            </a:r>
          </a:p>
          <a:p>
            <a:r>
              <a:rPr lang="cs-CZ" dirty="0"/>
              <a:t>Spuštění porovnávacího algoritmu na konci programu je zajištěno pomocí instrumentace metody </a:t>
            </a:r>
            <a:r>
              <a:rPr lang="cs-CZ" dirty="0" err="1"/>
              <a:t>main</a:t>
            </a:r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23046EC-8955-4C98-0D07-92B27268A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515600" cy="365125"/>
          </a:xfrm>
        </p:spPr>
        <p:txBody>
          <a:bodyPr/>
          <a:lstStyle/>
          <a:p>
            <a:pPr algn="r"/>
            <a:r>
              <a:rPr lang="cs-CZ" sz="1600" dirty="0"/>
              <a:t>3/5</a:t>
            </a:r>
          </a:p>
        </p:txBody>
      </p:sp>
    </p:spTree>
    <p:extLst>
      <p:ext uri="{BB962C8B-B14F-4D97-AF65-F5344CB8AC3E}">
        <p14:creationId xmlns:p14="http://schemas.microsoft.com/office/powerpoint/2010/main" val="2586293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3501EAD-1CCC-3E8B-4349-BE5DB434B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Testování a výsledky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91094F8-CEF5-2EF6-D788-AB2E16E44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Nástroj byl otestován na několika jednoduchých programech</a:t>
            </a:r>
          </a:p>
          <a:p>
            <a:r>
              <a:rPr lang="cs-CZ" dirty="0"/>
              <a:t>Otestováno i s knihovnou </a:t>
            </a:r>
            <a:r>
              <a:rPr lang="cs-CZ" dirty="0" err="1"/>
              <a:t>JavaFX</a:t>
            </a:r>
            <a:endParaRPr lang="cs-CZ" dirty="0"/>
          </a:p>
          <a:p>
            <a:r>
              <a:rPr lang="cs-CZ" dirty="0"/>
              <a:t>Testy ověřily funkcionalitu instrumentace i porovnávacího algoritmu</a:t>
            </a:r>
          </a:p>
          <a:p>
            <a:r>
              <a:rPr lang="cs-CZ" dirty="0"/>
              <a:t>Porovnávací algoritmus funguje pro:</a:t>
            </a:r>
          </a:p>
          <a:p>
            <a:pPr lvl="1"/>
            <a:r>
              <a:rPr lang="cs-CZ" dirty="0"/>
              <a:t>Jednoduché třídy s primitivními datovými typy</a:t>
            </a:r>
          </a:p>
          <a:p>
            <a:pPr lvl="1"/>
            <a:r>
              <a:rPr lang="cs-CZ" dirty="0"/>
              <a:t>Pole</a:t>
            </a:r>
          </a:p>
          <a:p>
            <a:pPr lvl="1"/>
            <a:r>
              <a:rPr lang="cs-CZ" dirty="0"/>
              <a:t>Třídy s komplexní strukturou (cykly, větší zanoření)</a:t>
            </a:r>
          </a:p>
          <a:p>
            <a:pPr lvl="1"/>
            <a:r>
              <a:rPr lang="cs-CZ" dirty="0"/>
              <a:t>Částečně pro kolekce – obsahují metadata</a:t>
            </a:r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C3B53F5-265A-E2B7-150F-B617C114C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515600" cy="365125"/>
          </a:xfrm>
        </p:spPr>
        <p:txBody>
          <a:bodyPr/>
          <a:lstStyle/>
          <a:p>
            <a:pPr algn="r"/>
            <a:r>
              <a:rPr lang="cs-CZ" sz="1600" dirty="0"/>
              <a:t>4/5</a:t>
            </a:r>
          </a:p>
        </p:txBody>
      </p:sp>
    </p:spTree>
    <p:extLst>
      <p:ext uri="{BB962C8B-B14F-4D97-AF65-F5344CB8AC3E}">
        <p14:creationId xmlns:p14="http://schemas.microsoft.com/office/powerpoint/2010/main" val="1500917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9F4D0-5098-A2FF-B7AD-06B379E78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Závěr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84690A3-2B8C-C680-3E17-EC4B3713E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r>
              <a:rPr lang="cs-CZ" dirty="0"/>
              <a:t>Nástroj dokáže:</a:t>
            </a:r>
          </a:p>
          <a:p>
            <a:pPr lvl="1"/>
            <a:r>
              <a:rPr lang="cs-CZ" dirty="0"/>
              <a:t>Nalézt všechny duplikáty instancí za běhu programu</a:t>
            </a:r>
          </a:p>
          <a:p>
            <a:pPr lvl="1"/>
            <a:r>
              <a:rPr lang="cs-CZ" dirty="0"/>
              <a:t>Vypočítat velikosti alokovaných objektů</a:t>
            </a:r>
          </a:p>
          <a:p>
            <a:pPr lvl="1"/>
            <a:r>
              <a:rPr lang="cs-CZ" dirty="0"/>
              <a:t>Zjistit, kde k alokacím došlo</a:t>
            </a:r>
          </a:p>
          <a:p>
            <a:r>
              <a:rPr lang="cs-CZ" dirty="0"/>
              <a:t>Nástroji chybí:</a:t>
            </a:r>
          </a:p>
          <a:p>
            <a:pPr lvl="1"/>
            <a:r>
              <a:rPr lang="cs-CZ" dirty="0"/>
              <a:t>Přesné porovnávání kolekcí</a:t>
            </a:r>
          </a:p>
          <a:p>
            <a:pPr lvl="1"/>
            <a:r>
              <a:rPr lang="cs-CZ" dirty="0"/>
              <a:t>Spouštění porovnávání „na vyžádání“</a:t>
            </a:r>
          </a:p>
          <a:p>
            <a:r>
              <a:rPr lang="cs-CZ" dirty="0"/>
              <a:t>V práci bylo dokázáno, že je možné využít instrumentaci Java byte kódu pro monitorování alokací paměti.</a:t>
            </a:r>
          </a:p>
          <a:p>
            <a:r>
              <a:rPr lang="cs-CZ" dirty="0"/>
              <a:t>V současném stavu je nástroj připraven k využití pro programy, které nevyžadují přesné porovnávání kolekcí</a:t>
            </a:r>
          </a:p>
          <a:p>
            <a:pPr lvl="1"/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F752BF9-1BD3-7438-DEF6-5525AD1DF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515600" cy="365125"/>
          </a:xfrm>
        </p:spPr>
        <p:txBody>
          <a:bodyPr/>
          <a:lstStyle/>
          <a:p>
            <a:pPr algn="r"/>
            <a:r>
              <a:rPr lang="cs-CZ" sz="1600" dirty="0"/>
              <a:t>5/5</a:t>
            </a:r>
          </a:p>
        </p:txBody>
      </p:sp>
    </p:spTree>
    <p:extLst>
      <p:ext uri="{BB962C8B-B14F-4D97-AF65-F5344CB8AC3E}">
        <p14:creationId xmlns:p14="http://schemas.microsoft.com/office/powerpoint/2010/main" val="1750886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C6219C2-06E9-0A91-E6C4-E9EB5292B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1BE5863-3729-2E1F-0969-39A51AD7A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cs-CZ" dirty="0"/>
          </a:p>
          <a:p>
            <a:pPr marL="0" indent="0" algn="ctr">
              <a:buNone/>
            </a:pPr>
            <a:endParaRPr lang="cs-CZ" dirty="0"/>
          </a:p>
          <a:p>
            <a:pPr marL="0" indent="0" algn="ctr">
              <a:buNone/>
            </a:pPr>
            <a:endParaRPr lang="cs-CZ" dirty="0"/>
          </a:p>
          <a:p>
            <a:pPr marL="0" indent="0" algn="ctr">
              <a:buNone/>
            </a:pPr>
            <a:r>
              <a:rPr lang="cs-CZ" sz="3200" dirty="0"/>
              <a:t>Děkuji Vám za pozornost</a:t>
            </a:r>
          </a:p>
        </p:txBody>
      </p:sp>
    </p:spTree>
    <p:extLst>
      <p:ext uri="{BB962C8B-B14F-4D97-AF65-F5344CB8AC3E}">
        <p14:creationId xmlns:p14="http://schemas.microsoft.com/office/powerpoint/2010/main" val="1456168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ovéPole 4">
            <a:extLst>
              <a:ext uri="{FF2B5EF4-FFF2-40B4-BE49-F238E27FC236}">
                <a16:creationId xmlns:a16="http://schemas.microsoft.com/office/drawing/2014/main" id="{7EABFC31-8A9B-8251-79E9-AD19AE32AD9C}"/>
              </a:ext>
            </a:extLst>
          </p:cNvPr>
          <p:cNvSpPr txBox="1"/>
          <p:nvPr/>
        </p:nvSpPr>
        <p:spPr>
          <a:xfrm>
            <a:off x="345056" y="215660"/>
            <a:ext cx="11585275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2600" dirty="0">
                <a:effectLst/>
                <a:latin typeface="+mj-lt"/>
              </a:rPr>
              <a:t>1. V práci není nikde šířeji zmíněno zpomalení aplikace díky prováděnému monitorování. Jak velké je a jaký to může být problém?</a:t>
            </a:r>
            <a:endParaRPr lang="cs-CZ" sz="2600" dirty="0">
              <a:latin typeface="+mj-lt"/>
            </a:endParaRPr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4032E4DE-CD84-8CE7-9409-6DF1AB6D169B}"/>
              </a:ext>
            </a:extLst>
          </p:cNvPr>
          <p:cNvSpPr txBox="1"/>
          <p:nvPr/>
        </p:nvSpPr>
        <p:spPr>
          <a:xfrm>
            <a:off x="345056" y="1312018"/>
            <a:ext cx="11585274" cy="5863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2100" dirty="0"/>
              <a:t>Analýza:</a:t>
            </a:r>
          </a:p>
          <a:p>
            <a:pPr marL="342900" indent="-342900">
              <a:buAutoNum type="arabicPeriod"/>
            </a:pPr>
            <a:r>
              <a:rPr lang="cs-CZ" sz="2100" dirty="0"/>
              <a:t>Při načtení třídy do paměti je spuštěn kód </a:t>
            </a:r>
            <a:r>
              <a:rPr lang="cs-CZ" sz="2100" dirty="0" err="1"/>
              <a:t>transformera</a:t>
            </a:r>
            <a:r>
              <a:rPr lang="cs-CZ" sz="2100" dirty="0"/>
              <a:t>. Budeme-li předpokládat, že </a:t>
            </a:r>
            <a:r>
              <a:rPr lang="en-US" sz="2100" dirty="0"/>
              <a:t>t</a:t>
            </a:r>
            <a:r>
              <a:rPr lang="cs-CZ" sz="2100" dirty="0" err="1"/>
              <a:t>řída</a:t>
            </a:r>
            <a:r>
              <a:rPr lang="cs-CZ" sz="2100" dirty="0"/>
              <a:t> nebude nikdy odstraněna z paměti, pak tento proces proběhne pouze jednou (většinou při spuštění programu).</a:t>
            </a:r>
          </a:p>
          <a:p>
            <a:pPr marL="342900" indent="-342900">
              <a:buAutoNum type="arabicPeriod"/>
            </a:pPr>
            <a:r>
              <a:rPr lang="cs-CZ" sz="2100" dirty="0"/>
              <a:t>Kód </a:t>
            </a:r>
            <a:r>
              <a:rPr lang="cs-CZ" sz="2100" dirty="0" err="1"/>
              <a:t>transformera</a:t>
            </a:r>
            <a:r>
              <a:rPr lang="cs-CZ" sz="2100" dirty="0"/>
              <a:t> probíhá při nejhorším v kvadratickém čase (je potřeba projít celou třídu, získat její metody, upravit je).</a:t>
            </a:r>
          </a:p>
          <a:p>
            <a:pPr marL="342900" indent="-342900">
              <a:buFontTx/>
              <a:buAutoNum type="arabicPeriod"/>
            </a:pPr>
            <a:r>
              <a:rPr lang="cs-CZ" sz="2100" dirty="0"/>
              <a:t>Všechny kroky nového byte kódu probíhají v konstantním čase – pouze dvě instrukce: duplikace reference, volání metody</a:t>
            </a:r>
          </a:p>
          <a:p>
            <a:pPr marL="342900" indent="-342900">
              <a:buFontTx/>
              <a:buAutoNum type="arabicPeriod"/>
            </a:pPr>
            <a:r>
              <a:rPr lang="cs-CZ" sz="2100" dirty="0"/>
              <a:t>Kód volání metody také probíhá v konstantním čase: přidání prvku do tabulky, přidání prvku do seznamu. (Jediná výjimka je u vícerozměrných polí, kdy je potřeba projít celé pole pro výpočet jeho velikosti).</a:t>
            </a:r>
          </a:p>
          <a:p>
            <a:pPr marL="342900" indent="-342900">
              <a:buFontTx/>
              <a:buAutoNum type="arabicPeriod"/>
            </a:pPr>
            <a:r>
              <a:rPr lang="cs-CZ" sz="2100" dirty="0"/>
              <a:t>Porovnávání je uskutečněno pouze jednou na konci běhu programu a jeho rychlost je lineárně závislá na počtu referencí.</a:t>
            </a:r>
          </a:p>
          <a:p>
            <a:endParaRPr lang="cs-CZ" sz="2100" dirty="0"/>
          </a:p>
          <a:p>
            <a:r>
              <a:rPr lang="cs-CZ" sz="2100" dirty="0"/>
              <a:t>Kroky 3 a 4 ovlivní běh programu (ovlivní user </a:t>
            </a:r>
            <a:r>
              <a:rPr lang="cs-CZ" sz="2100" dirty="0" err="1"/>
              <a:t>experience</a:t>
            </a:r>
            <a:r>
              <a:rPr lang="cs-CZ" sz="2100" dirty="0"/>
              <a:t>), kroky 1, 2 a 5 pouze „prodlouží dobu, po kterou je program zapnutý“. Většina kroků, které ovlivní UX jsou tedy konstantního času a neměly by výrazně zpomalit běh aplikace.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79992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ulka 2">
            <a:extLst>
              <a:ext uri="{FF2B5EF4-FFF2-40B4-BE49-F238E27FC236}">
                <a16:creationId xmlns:a16="http://schemas.microsoft.com/office/drawing/2014/main" id="{FC362692-E779-CE6D-6F7F-4A14E2A6FF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670189"/>
              </p:ext>
            </p:extLst>
          </p:nvPr>
        </p:nvGraphicFramePr>
        <p:xfrm>
          <a:off x="2032000" y="1848897"/>
          <a:ext cx="8128000" cy="96464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44030309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82855657"/>
                    </a:ext>
                  </a:extLst>
                </a:gridCol>
              </a:tblGrid>
              <a:tr h="482321">
                <a:tc>
                  <a:txBody>
                    <a:bodyPr/>
                    <a:lstStyle/>
                    <a:p>
                      <a:r>
                        <a:rPr lang="cs-CZ" dirty="0"/>
                        <a:t>Průměrný běh testu bez nástroje [</a:t>
                      </a:r>
                      <a:r>
                        <a:rPr lang="cs-CZ" dirty="0" err="1"/>
                        <a:t>ms</a:t>
                      </a:r>
                      <a:r>
                        <a:rPr lang="cs-CZ" dirty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Průměrný běh testu s nástrojem [</a:t>
                      </a:r>
                      <a:r>
                        <a:rPr lang="cs-CZ" dirty="0" err="1"/>
                        <a:t>ms</a:t>
                      </a:r>
                      <a:r>
                        <a:rPr lang="cs-CZ" dirty="0"/>
                        <a:t>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6457061"/>
                  </a:ext>
                </a:extLst>
              </a:tr>
              <a:tr h="482321">
                <a:tc>
                  <a:txBody>
                    <a:bodyPr/>
                    <a:lstStyle/>
                    <a:p>
                      <a:r>
                        <a:rPr lang="cs-CZ" dirty="0"/>
                        <a:t>1162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2964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2002993"/>
                  </a:ext>
                </a:extLst>
              </a:tr>
            </a:tbl>
          </a:graphicData>
        </a:graphic>
      </p:graphicFrame>
      <p:sp>
        <p:nvSpPr>
          <p:cNvPr id="3" name="TextovéPole 2">
            <a:extLst>
              <a:ext uri="{FF2B5EF4-FFF2-40B4-BE49-F238E27FC236}">
                <a16:creationId xmlns:a16="http://schemas.microsoft.com/office/drawing/2014/main" id="{B3A644A3-9D64-F159-AB28-3128E6E9A6FF}"/>
              </a:ext>
            </a:extLst>
          </p:cNvPr>
          <p:cNvSpPr txBox="1"/>
          <p:nvPr/>
        </p:nvSpPr>
        <p:spPr>
          <a:xfrm>
            <a:off x="2031999" y="1479565"/>
            <a:ext cx="812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Test vytvoření 20 000 </a:t>
            </a:r>
            <a:r>
              <a:rPr lang="cs-CZ" dirty="0" err="1"/>
              <a:t>ArrayListů</a:t>
            </a:r>
            <a:r>
              <a:rPr lang="cs-CZ" dirty="0"/>
              <a:t>, každého s 10 000 prvků (datového typu </a:t>
            </a:r>
            <a:r>
              <a:rPr lang="cs-CZ" dirty="0" err="1"/>
              <a:t>Integer</a:t>
            </a:r>
            <a:r>
              <a:rPr lang="cs-CZ" dirty="0"/>
              <a:t>)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DE6A31E4-F846-269F-AED3-960510DFD1C6}"/>
              </a:ext>
            </a:extLst>
          </p:cNvPr>
          <p:cNvSpPr txBox="1"/>
          <p:nvPr/>
        </p:nvSpPr>
        <p:spPr>
          <a:xfrm>
            <a:off x="2032000" y="3059668"/>
            <a:ext cx="8127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Zpomalení pouze cca 2.5x</a:t>
            </a:r>
          </a:p>
          <a:p>
            <a:r>
              <a:rPr lang="cs-CZ" dirty="0"/>
              <a:t>Porovnávání </a:t>
            </a:r>
            <a:r>
              <a:rPr lang="cs-CZ" dirty="0" err="1"/>
              <a:t>ArrayListů</a:t>
            </a:r>
            <a:r>
              <a:rPr lang="cs-CZ" dirty="0"/>
              <a:t> trvalo 57 minut! (AMD </a:t>
            </a:r>
            <a:r>
              <a:rPr lang="cs-CZ" dirty="0" err="1"/>
              <a:t>Ryzen</a:t>
            </a:r>
            <a:r>
              <a:rPr lang="cs-CZ" dirty="0"/>
              <a:t> 5600G, 48GB Ram)</a:t>
            </a:r>
          </a:p>
        </p:txBody>
      </p:sp>
    </p:spTree>
    <p:extLst>
      <p:ext uri="{BB962C8B-B14F-4D97-AF65-F5344CB8AC3E}">
        <p14:creationId xmlns:p14="http://schemas.microsoft.com/office/powerpoint/2010/main" val="4233446782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1395</TotalTime>
  <Words>641</Words>
  <Application>Microsoft Office PowerPoint</Application>
  <PresentationFormat>Širokoúhlá obrazovka</PresentationFormat>
  <Paragraphs>79</Paragraphs>
  <Slides>9</Slides>
  <Notes>6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Motiv Office</vt:lpstr>
      <vt:lpstr>Monitorování alokací paměti za běhu Java aplikací</vt:lpstr>
      <vt:lpstr>Proč práce vznikala?</vt:lpstr>
      <vt:lpstr>Jak práce vznikala?</vt:lpstr>
      <vt:lpstr>Jak nástroj funguje?</vt:lpstr>
      <vt:lpstr>Testování a výsledky</vt:lpstr>
      <vt:lpstr>Závěr</vt:lpstr>
      <vt:lpstr> 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Monitorování alokací paměti za běhu Java aplikací</dc:title>
  <dc:creator>Jiří Velek</dc:creator>
  <cp:lastModifiedBy>Jiří Velek</cp:lastModifiedBy>
  <cp:revision>211</cp:revision>
  <dcterms:created xsi:type="dcterms:W3CDTF">2023-05-15T14:07:13Z</dcterms:created>
  <dcterms:modified xsi:type="dcterms:W3CDTF">2023-06-12T12:16:14Z</dcterms:modified>
</cp:coreProperties>
</file>